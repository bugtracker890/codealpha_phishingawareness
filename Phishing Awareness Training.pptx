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JetBrains Mono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6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272754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Phishing Awareness Training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21751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DEFENDING THE HUMAN FIREWALL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107060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Securing our data against the most common entry point for cybercrime.</a:t>
            </a:r>
            <a:endParaRPr/>
          </a:p>
        </p:txBody>
      </p:sp>
      <p:sp>
        <p:nvSpPr>
          <p:cNvPr id="6" name="Google Shape;86;p13"/>
          <p:cNvSpPr txBox="1"/>
          <p:nvPr/>
        </p:nvSpPr>
        <p:spPr>
          <a:xfrm>
            <a:off x="509491" y="4934098"/>
            <a:ext cx="110299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 Alpha - Phishing Awareness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77430"/>
            <a:ext cx="952500" cy="3810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276" y="3290887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The Human Element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3756719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90% of all cyberattacks begin with a single phishing email. Understanding how these attacks work is your first line of defense.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4644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94644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94644"/>
            <a:ext cx="34861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23925" y="3556694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Email Phishing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23925" y="4071044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Mass-distributed fraudulent emails designed to trick users into clicking links or downloading malware.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95825" y="3556694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Smishing (SMS)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95825" y="4071044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Phishing via text messages, often pretending to be banks or delivery services with urgent alerts.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67725" y="3556694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Quishing (QR)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67725" y="4071044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new trend where malicious links are embedded in QR codes, bypassing traditional email filters.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775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775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775644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WHAT IS PHISHING?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033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81025" y="244703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4D4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Critical Statistics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8985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09650" y="2923282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21 Seconds: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median time it takes a user to click a phishing link after receipt.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09650" y="3771007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28 Minutes: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time it takes for a user to report a suspicious email.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09650" y="4618732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Steady Volume: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3.8 million phishing attacks recorded in 2025 alone.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613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8091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65683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THE SPEED OF THE THREAT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71525" y="960387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ANATOMY OF A PHISH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81025" y="960387"/>
            <a:ext cx="47625" cy="110490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2799457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D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Identify the Red Flags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345668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Modern phishing attempts are highly sophisticated, often using AI to craft perfect grammar and local branding.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09650" y="4361557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Suspicious Sender: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Check if the domain (e.g., @micros0ft.com) matches the real brand.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09650" y="5209282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Sense of Urgency: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Threatens account closure or legal action to force quick clicks.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996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24738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56557"/>
            <a:ext cx="52292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56557"/>
            <a:ext cx="52292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526643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"Social engineering is the art of manipulating people so they give up confidential information."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23925" y="3066157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7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Pretexting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23925" y="3580507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Attackers create a believable backstory (the "pretext"). For example, posing as an IT technician needing your password for a "security audit."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24650" y="3066157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7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Baiting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24650" y="3580507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Offering a prize or benefit—like a free software upgrade or a "confidential" HR document—to entice a user to download a malicious file.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309473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09473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SOCIAL ENGINEERING TACTICS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619375" y="2618482"/>
            <a:ext cx="776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Inspect the URL: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Look for "homograph" attacks where 'o' is replaced by '0' or 'i' by '1'.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2619375" y="3161407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Padlock Myth: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padlock (HTTPS) only means the connection is secure, not that the website itself is legitimate.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2619375" y="4009132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Harvest Pop-ups: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Legitimate sites rarely ask for passwords in a separate, unprompted popup window.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2619375" y="4856857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Hover Before You Click: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Always hover over links to see the true destination URL in your browser's bottom-left corner.</a:t>
            </a:r>
            <a:endParaRPr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265658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90750" y="31995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90750" y="404723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0750" y="489495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SPOTTING FAKE WEBSITES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93837"/>
            <a:ext cx="1102995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507593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APWG Phishing Activity Trends Report 2025. Attacks reached a historic peak of 1 million per quarter.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ATTACK TRENDS (2024-2025)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88964"/>
            <a:ext cx="3486150" cy="379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88964"/>
            <a:ext cx="3486150" cy="379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88964"/>
            <a:ext cx="3486150" cy="379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" y="2293739"/>
            <a:ext cx="32766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57700" y="2293739"/>
            <a:ext cx="32766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29600" y="2293739"/>
            <a:ext cx="32766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603885" y="4865489"/>
            <a:ext cx="34404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Brand Impersonation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85800" y="5246489"/>
            <a:ext cx="327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Microsoft is the #1 impersonated brand, used in 25% of all phishing attacks.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375785" y="4865489"/>
            <a:ext cx="34404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Mobile Phishing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457700" y="5246489"/>
            <a:ext cx="327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QR Code phishing (Quishing) surged 336% in early 2026 as a new stealth vector.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147685" y="4865489"/>
            <a:ext cx="34404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Financial Fraud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229600" y="5246489"/>
            <a:ext cx="327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BEC (Business Email Compromise) caused $2.77 billion in losses in 2024.</a:t>
            </a:r>
            <a:endParaRPr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5325" y="2303264"/>
            <a:ext cx="32575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67225" y="2303264"/>
            <a:ext cx="32575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39125" y="2303264"/>
            <a:ext cx="32575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REAL-WORLD EXAMPLES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1271141" y="3209032"/>
            <a:ext cx="385762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FF4D4D"/>
                </a:solidFill>
                <a:latin typeface="Urbanist"/>
                <a:ea typeface="Urbanist"/>
                <a:cs typeface="Urbanist"/>
                <a:sym typeface="Urbanist"/>
              </a:rPr>
              <a:t>$4.8M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271141" y="4637782"/>
            <a:ext cx="3857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Average Breach Cost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508998" y="3166169"/>
            <a:ext cx="463245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Hidden Damages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937623" y="3642419"/>
            <a:ext cx="398323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Loss &amp; Ransom payments.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937623" y="4185344"/>
            <a:ext cx="398323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Regulatory fines (GDPR/HIPAA).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937623" y="4728269"/>
            <a:ext cx="398323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Permanent Loss of customer trust.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8998" y="36805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8998" y="422344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8998" y="476636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THE COST OF A CLICK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2686050" y="4370337"/>
            <a:ext cx="68199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705877" y="1803723"/>
            <a:ext cx="6780245" cy="4763390"/>
            <a:chOff x="2286000" y="1893837"/>
            <a:chExt cx="7620000" cy="5734051"/>
          </a:xfrm>
        </p:grpSpPr>
        <p:pic>
          <p:nvPicPr>
            <p:cNvPr id="228" name="Google Shape;228;p2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86000" y="1893837"/>
              <a:ext cx="7620000" cy="5734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3"/>
            <p:cNvSpPr txBox="1"/>
            <p:nvPr/>
          </p:nvSpPr>
          <p:spPr>
            <a:xfrm>
              <a:off x="2686050" y="2560587"/>
              <a:ext cx="7160895" cy="323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Scenario: You receive an email from "Service Desk"</a:t>
              </a:r>
              <a:endParaRPr/>
            </a:p>
          </p:txBody>
        </p:sp>
        <p:sp>
          <p:nvSpPr>
            <p:cNvPr id="230" name="Google Shape;230;p23"/>
            <p:cNvSpPr txBox="1"/>
            <p:nvPr/>
          </p:nvSpPr>
          <p:spPr>
            <a:xfrm>
              <a:off x="2686050" y="3074937"/>
              <a:ext cx="681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Subject: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Urgent Security Update Required!</a:t>
              </a:r>
              <a:endParaRPr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2686050" y="3570237"/>
              <a:ext cx="6819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Content: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"Your account has a critical vulnerability. Click here to download the security patch: </a:t>
              </a:r>
              <a:r>
                <a:rPr lang="en-US" sz="1500" b="0" i="1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http://it-support-internal.com/patch.exe</a:t>
              </a: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"</a:t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2686050" y="4579887"/>
              <a:ext cx="681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Question: What is the biggest red flag?</a:t>
              </a:r>
              <a:endParaRPr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3114675" y="5056137"/>
              <a:ext cx="639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A) The urgent subject line.</a:t>
              </a:r>
              <a:endParaRPr/>
            </a:p>
          </p:txBody>
        </p:sp>
        <p:sp>
          <p:nvSpPr>
            <p:cNvPr id="235" name="Google Shape;235;p23"/>
            <p:cNvSpPr txBox="1"/>
            <p:nvPr/>
          </p:nvSpPr>
          <p:spPr>
            <a:xfrm>
              <a:off x="3114675" y="5599062"/>
              <a:ext cx="639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B) The file extension (.exe) in the link.</a:t>
              </a:r>
              <a:endParaRPr/>
            </a:p>
          </p:txBody>
        </p:sp>
        <p:sp>
          <p:nvSpPr>
            <p:cNvPr id="236" name="Google Shape;236;p23"/>
            <p:cNvSpPr txBox="1"/>
            <p:nvPr/>
          </p:nvSpPr>
          <p:spPr>
            <a:xfrm>
              <a:off x="3114675" y="6141987"/>
              <a:ext cx="639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C) IT asking you to manually install a patch via email.</a:t>
              </a:r>
              <a:endParaRPr/>
            </a:p>
          </p:txBody>
        </p:sp>
        <p:sp>
          <p:nvSpPr>
            <p:cNvPr id="237" name="Google Shape;237;p23"/>
            <p:cNvSpPr txBox="1"/>
            <p:nvPr/>
          </p:nvSpPr>
          <p:spPr>
            <a:xfrm>
              <a:off x="3114675" y="6684912"/>
              <a:ext cx="6391275" cy="173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D) All of the above.</a:t>
              </a:r>
              <a:endParaRPr/>
            </a:p>
          </p:txBody>
        </p:sp>
      </p:grpSp>
      <p:sp>
        <p:nvSpPr>
          <p:cNvPr id="238" name="Google Shape;238;p23"/>
          <p:cNvSpPr txBox="1"/>
          <p:nvPr/>
        </p:nvSpPr>
        <p:spPr>
          <a:xfrm>
            <a:off x="771525" y="96038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INTERACTIVE QUIZ: SPOT THE PHISH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81025" y="960387"/>
            <a:ext cx="47625" cy="55245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/>
          <p:nvPr/>
        </p:nvSpPr>
        <p:spPr>
          <a:xfrm>
            <a:off x="5619750" y="866775"/>
            <a:ext cx="952500" cy="38100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305276" y="1380232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Stay Secure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81025" y="58293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D1FF"/>
                </a:solidFill>
                <a:latin typeface="Urbanist"/>
                <a:ea typeface="Urbanist"/>
                <a:cs typeface="Urbanist"/>
                <a:sym typeface="Urbanist"/>
              </a:rPr>
              <a:t>When in doubt, throw it out!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2714625" y="2832794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Stop &amp; Think: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If an email feels urgent, call the sender on a known number.</a:t>
            </a:r>
            <a:endParaRPr dirty="0"/>
          </a:p>
        </p:txBody>
      </p:sp>
      <p:sp>
        <p:nvSpPr>
          <p:cNvPr id="249" name="Google Shape;249;p24"/>
          <p:cNvSpPr txBox="1"/>
          <p:nvPr/>
        </p:nvSpPr>
        <p:spPr>
          <a:xfrm>
            <a:off x="2714625" y="3375719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Enable MFA: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Multi-Factor Authentication stops 99.9% of account takeovers.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714625" y="3918644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REPORT: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 the "Report Phish" button. Reporting protects your colleagues.</a:t>
            </a:r>
            <a:endParaRPr/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8708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34138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395674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48;p24"/>
          <p:cNvSpPr txBox="1"/>
          <p:nvPr/>
        </p:nvSpPr>
        <p:spPr>
          <a:xfrm>
            <a:off x="3442996" y="2310279"/>
            <a:ext cx="5971592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 smtClean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Any Questions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390366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Urbanist</vt:lpstr>
      <vt:lpstr>Arial</vt:lpstr>
      <vt:lpstr>JetBrains Mono</vt:lpstr>
      <vt:lpstr>Calibri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ic</cp:lastModifiedBy>
  <cp:revision>1</cp:revision>
  <dcterms:modified xsi:type="dcterms:W3CDTF">2026-06-10T18:11:13Z</dcterms:modified>
</cp:coreProperties>
</file>